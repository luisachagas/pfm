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A3A3A3"/>
    <a:srgbClr val="2B2E3D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08" y="-955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13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9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87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9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02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9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62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53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91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05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E5C06-4BCD-4125-AC83-8E03B59ACE21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AB5D0-0B9C-4199-B263-E5B81B7F9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9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83BDE32-5990-F6A2-7E83-2BEAF39100BF}"/>
              </a:ext>
            </a:extLst>
          </p:cNvPr>
          <p:cNvSpPr/>
          <p:nvPr/>
        </p:nvSpPr>
        <p:spPr>
          <a:xfrm>
            <a:off x="0" y="-19051"/>
            <a:ext cx="6858000" cy="9925051"/>
          </a:xfrm>
          <a:prstGeom prst="rect">
            <a:avLst/>
          </a:prstGeom>
          <a:solidFill>
            <a:srgbClr val="2B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2589DB9-FA3C-1504-8600-FFE12F24D95A}"/>
              </a:ext>
            </a:extLst>
          </p:cNvPr>
          <p:cNvGrpSpPr/>
          <p:nvPr/>
        </p:nvGrpSpPr>
        <p:grpSpPr>
          <a:xfrm>
            <a:off x="124184" y="3335595"/>
            <a:ext cx="6609633" cy="2795175"/>
            <a:chOff x="147046" y="3335595"/>
            <a:chExt cx="6609633" cy="279517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367ECA47-28D4-EDDC-7AB2-3090575B1836}"/>
                </a:ext>
              </a:extLst>
            </p:cNvPr>
            <p:cNvGrpSpPr/>
            <p:nvPr/>
          </p:nvGrpSpPr>
          <p:grpSpPr>
            <a:xfrm>
              <a:off x="223245" y="3335595"/>
              <a:ext cx="6533434" cy="1284090"/>
              <a:chOff x="223245" y="311542"/>
              <a:chExt cx="6533434" cy="1284090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18B4C454-3A07-7ED3-5F0B-F851A7B5BBFC}"/>
                  </a:ext>
                </a:extLst>
              </p:cNvPr>
              <p:cNvSpPr txBox="1"/>
              <p:nvPr/>
            </p:nvSpPr>
            <p:spPr>
              <a:xfrm>
                <a:off x="1266234" y="311542"/>
                <a:ext cx="5490445" cy="95410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pt-BR" sz="2800" b="1" dirty="0">
                    <a:solidFill>
                      <a:srgbClr val="DCDCDC"/>
                    </a:solidFill>
                    <a:latin typeface="Bahnschrift" panose="020B0502040204020203" pitchFamily="34" charset="0"/>
                  </a:rPr>
                  <a:t>PROCURADORIA DA FAZENDA MUNICIPAL DO RECIFE</a:t>
                </a:r>
              </a:p>
            </p:txBody>
          </p:sp>
          <p:pic>
            <p:nvPicPr>
              <p:cNvPr id="1026" name="Picture 2" descr="QUEM SOMOS">
                <a:extLst>
                  <a:ext uri="{FF2B5EF4-FFF2-40B4-BE49-F238E27FC236}">
                    <a16:creationId xmlns:a16="http://schemas.microsoft.com/office/drawing/2014/main" id="{FF942EED-2AA7-7CBB-32B8-8D888B9D16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51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3245" y="543462"/>
                <a:ext cx="905472" cy="901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1EBD8F6-400D-C935-B218-D98CA9282CC0}"/>
                  </a:ext>
                </a:extLst>
              </p:cNvPr>
              <p:cNvSpPr txBox="1"/>
              <p:nvPr/>
            </p:nvSpPr>
            <p:spPr>
              <a:xfrm>
                <a:off x="1266235" y="1226300"/>
                <a:ext cx="5452344" cy="369332"/>
              </a:xfrm>
              <a:prstGeom prst="rect">
                <a:avLst/>
              </a:prstGeom>
              <a:solidFill>
                <a:srgbClr val="DCDCDC"/>
              </a:solidFill>
            </p:spPr>
            <p:txBody>
              <a:bodyPr wrap="square" rtlCol="0" anchor="ctr">
                <a:spAutoFit/>
              </a:bodyPr>
              <a:lstStyle/>
              <a:p>
                <a:r>
                  <a:rPr lang="pt-BR" dirty="0">
                    <a:solidFill>
                      <a:srgbClr val="2B2E3D"/>
                    </a:solidFill>
                    <a:latin typeface="Bahnschrift" panose="020B0502040204020203" pitchFamily="34" charset="0"/>
                  </a:rPr>
                  <a:t>EXTRATO DE AÇÕES CERTIDÃO DE DÍVIDA ATIVA</a:t>
                </a:r>
              </a:p>
            </p:txBody>
          </p:sp>
        </p:grp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8ECF296E-CA53-7DDA-BCA9-BFC2717470C4}"/>
                </a:ext>
              </a:extLst>
            </p:cNvPr>
            <p:cNvSpPr/>
            <p:nvPr/>
          </p:nvSpPr>
          <p:spPr>
            <a:xfrm>
              <a:off x="185146" y="5761438"/>
              <a:ext cx="6533433" cy="369332"/>
            </a:xfrm>
            <a:prstGeom prst="roundRect">
              <a:avLst>
                <a:gd name="adj" fmla="val 5000"/>
              </a:avLst>
            </a:prstGeom>
            <a:solidFill>
              <a:srgbClr val="DCDC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rgbClr val="2B2E3D"/>
                  </a:solidFill>
                  <a:latin typeface="Bahnschrift" panose="020B0502040204020203" pitchFamily="34" charset="0"/>
                </a:rPr>
                <a:t>CONSULTAR CDA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6CDC18D4-87F8-E1B6-ECE8-F96AAF60300C}"/>
                </a:ext>
              </a:extLst>
            </p:cNvPr>
            <p:cNvSpPr txBox="1"/>
            <p:nvPr/>
          </p:nvSpPr>
          <p:spPr>
            <a:xfrm>
              <a:off x="147046" y="5299592"/>
              <a:ext cx="370171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BR" sz="1600" dirty="0">
                  <a:solidFill>
                    <a:srgbClr val="DCDCDC"/>
                  </a:solidFill>
                  <a:latin typeface="Bahnschrift" panose="020B0502040204020203" pitchFamily="34" charset="0"/>
                </a:rPr>
                <a:t>Selecione a CDA que deseja consultar: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67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0767-D6EF-A730-6CAA-91A6E3CB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6FBD87D-6DFD-78A9-EE1F-8E3EC432FB51}"/>
              </a:ext>
            </a:extLst>
          </p:cNvPr>
          <p:cNvSpPr/>
          <p:nvPr/>
        </p:nvSpPr>
        <p:spPr>
          <a:xfrm>
            <a:off x="0" y="-19050"/>
            <a:ext cx="6858000" cy="1615290"/>
          </a:xfrm>
          <a:prstGeom prst="rect">
            <a:avLst/>
          </a:prstGeom>
          <a:solidFill>
            <a:srgbClr val="2B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8D4A94-4F1F-7E93-D107-6CE70BB0EA50}"/>
              </a:ext>
            </a:extLst>
          </p:cNvPr>
          <p:cNvSpPr txBox="1"/>
          <p:nvPr/>
        </p:nvSpPr>
        <p:spPr>
          <a:xfrm>
            <a:off x="1266234" y="311542"/>
            <a:ext cx="5490445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800" b="1" dirty="0">
                <a:solidFill>
                  <a:srgbClr val="DCDCDC"/>
                </a:solidFill>
                <a:latin typeface="Bahnschrift" panose="020B0502040204020203" pitchFamily="34" charset="0"/>
              </a:rPr>
              <a:t>PROCURADORIA DA FAZENDA MUNICIPAL DO RECIFE</a:t>
            </a:r>
          </a:p>
        </p:txBody>
      </p:sp>
      <p:pic>
        <p:nvPicPr>
          <p:cNvPr id="1026" name="Picture 2" descr="QUEM SOMOS">
            <a:extLst>
              <a:ext uri="{FF2B5EF4-FFF2-40B4-BE49-F238E27FC236}">
                <a16:creationId xmlns:a16="http://schemas.microsoft.com/office/drawing/2014/main" id="{79719340-C4D1-8D32-596D-3D01966FC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45" y="337722"/>
            <a:ext cx="905472" cy="90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8CF627F-853D-E97F-5501-3CC3F3753C9D}"/>
              </a:ext>
            </a:extLst>
          </p:cNvPr>
          <p:cNvSpPr txBox="1"/>
          <p:nvPr/>
        </p:nvSpPr>
        <p:spPr>
          <a:xfrm>
            <a:off x="0" y="1766369"/>
            <a:ext cx="685800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400" dirty="0">
                <a:solidFill>
                  <a:srgbClr val="2B2E3D"/>
                </a:solidFill>
                <a:latin typeface="Bahnschrift" panose="020B0502040204020203" pitchFamily="34" charset="0"/>
              </a:rPr>
              <a:t>EXTRATO DE AÇÕES CERTIDÃO DE DÍVIDA ATIVA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31CC0B9-638D-8A15-0F8A-2D11CB282C4F}"/>
              </a:ext>
            </a:extLst>
          </p:cNvPr>
          <p:cNvSpPr/>
          <p:nvPr/>
        </p:nvSpPr>
        <p:spPr>
          <a:xfrm>
            <a:off x="-1" y="9401174"/>
            <a:ext cx="6858000" cy="504825"/>
          </a:xfrm>
          <a:prstGeom prst="rect">
            <a:avLst/>
          </a:prstGeom>
          <a:solidFill>
            <a:srgbClr val="2B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rgbClr val="DCDCDC"/>
                </a:solidFill>
                <a:latin typeface="Bahnschrift" panose="020B0502040204020203" pitchFamily="34" charset="0"/>
              </a:rPr>
              <a:t>DADOS ACESSADOS EM:                                                                                        FONTE:</a:t>
            </a:r>
          </a:p>
        </p:txBody>
      </p:sp>
      <p:pic>
        <p:nvPicPr>
          <p:cNvPr id="1028" name="Picture 4" descr="Assinador Digital">
            <a:extLst>
              <a:ext uri="{FF2B5EF4-FFF2-40B4-BE49-F238E27FC236}">
                <a16:creationId xmlns:a16="http://schemas.microsoft.com/office/drawing/2014/main" id="{136376CD-5344-8C32-68C6-61C29FE56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9528142"/>
            <a:ext cx="813079" cy="2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7677B7C-021B-8F94-8EE0-00742DE6C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961425"/>
              </p:ext>
            </p:extLst>
          </p:nvPr>
        </p:nvGraphicFramePr>
        <p:xfrm>
          <a:off x="507206" y="4219287"/>
          <a:ext cx="5843586" cy="4450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32714">
                  <a:extLst>
                    <a:ext uri="{9D8B030D-6E8A-4147-A177-3AD203B41FA5}">
                      <a16:colId xmlns:a16="http://schemas.microsoft.com/office/drawing/2014/main" val="2641510567"/>
                    </a:ext>
                  </a:extLst>
                </a:gridCol>
                <a:gridCol w="1910872">
                  <a:extLst>
                    <a:ext uri="{9D8B030D-6E8A-4147-A177-3AD203B41FA5}">
                      <a16:colId xmlns:a16="http://schemas.microsoft.com/office/drawing/2014/main" val="1232456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CERTIDÃO DE DÍVIDA ATIVA: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16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DOCUMENTO DO CONTRIBUINTE: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40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SEQUENCIAL DO IMÓVEL/INSCRIÇÃO MERCANTIL: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87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TIPO DA DÍVIDA: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61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CONTRIBUINTE CONTACTADO ADMINISTRATIVAMENTE?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98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CDA NEGATIVADA?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542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CDA PROTESTADA?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77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CDA AJUIZADA?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9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DATA DE COMUNICAÇÃO (SMS):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9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DATA DE COMUNICAÇÃO (E-MAIL):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909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DATA DE NEGATIVAÇÃO (QUOD):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7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>
                          <a:latin typeface="Bahnschrift" panose="020B0502040204020203" pitchFamily="34" charset="0"/>
                        </a:rPr>
                        <a:t>DATA DE NEGATIVAÇÃO (SCPC):</a:t>
                      </a: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2B2E3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0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875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1447</TotalTime>
  <Words>98</Words>
  <Application>Microsoft Office PowerPoint</Application>
  <PresentationFormat>Papel A4 (210 x 297 mm)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Bahnschrift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Cavalcanti Lins de Oliveira</dc:creator>
  <cp:lastModifiedBy>Matheus Cavalcanti Lins de Oliveira</cp:lastModifiedBy>
  <cp:revision>1</cp:revision>
  <cp:lastPrinted>2025-02-14T12:38:56Z</cp:lastPrinted>
  <dcterms:created xsi:type="dcterms:W3CDTF">2025-02-13T12:59:53Z</dcterms:created>
  <dcterms:modified xsi:type="dcterms:W3CDTF">2025-02-14T13:07:09Z</dcterms:modified>
</cp:coreProperties>
</file>